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34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0.617</c:v>
                </c:pt>
                <c:pt idx="1">
                  <c:v>0.556</c:v>
                </c:pt>
                <c:pt idx="2">
                  <c:v>0.573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AUC-PR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34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0.647</c:v>
                </c:pt>
                <c:pt idx="1">
                  <c:v>0.599</c:v>
                </c:pt>
                <c:pt idx="2">
                  <c:v>0.629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334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334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</c:scaling>
        <c:delete val="0"/>
        <c:axPos val="l"/>
        <c:majorGridlines>
          <c:spPr>
            <a:ln w="12700" cap="flat">
              <a:solidFill>
                <a:srgbClr val="E6EF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7A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2A2B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103120"/>
            <a:ext cx="6400800" cy="6400800"/>
          </a:xfrm>
          <a:prstGeom prst="ellipse">
            <a:avLst/>
          </a:prstGeom>
          <a:solidFill>
            <a:srgbClr val="0B3B3E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End-to-End Machine Learning System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B9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customer data to a production-ready, self-monitoring API —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B9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pipeline, model training, explainability, and a live retraining loop.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989320"/>
            <a:ext cx="219456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Hisham Magdi Mahmoud   ·   AI / ML Engineer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leave quietly — and companies find out too late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businesses (telecom, internet, streaming) lose a share of customers every month. By the time a customer has actually left, it's already too late to act.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6126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3035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64992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churn risk BEFORE it happens, as a clear probability — so the retention team can reach out with the right offer while there's still time.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086600" y="1691640"/>
            <a:ext cx="4434840" cy="4434840"/>
          </a:xfrm>
          <a:prstGeom prst="rect">
            <a:avLst/>
          </a:prstGeom>
          <a:solidFill>
            <a:srgbClr val="042A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0664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Severe class imbalance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406640" y="3063240"/>
            <a:ext cx="3794760" cy="502920"/>
          </a:xfrm>
          <a:prstGeom prst="rect">
            <a:avLst/>
          </a:prstGeom>
          <a:solidFill>
            <a:srgbClr val="0F4448"/>
          </a:solidFill>
          <a:ln/>
        </p:spPr>
      </p:sp>
      <p:sp>
        <p:nvSpPr>
          <p:cNvPr id="12" name="Shape 10"/>
          <p:cNvSpPr/>
          <p:nvPr/>
        </p:nvSpPr>
        <p:spPr>
          <a:xfrm>
            <a:off x="7406640" y="3063240"/>
            <a:ext cx="2791046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43800" y="3127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stay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270838" y="31272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 churn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37947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lazy model can just always predict “no churn” and still score ~74% accuracy — while being completely useless in practice.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06640" y="4892040"/>
            <a:ext cx="3794760" cy="0"/>
          </a:xfrm>
          <a:prstGeom prst="line">
            <a:avLst/>
          </a:prstGeom>
          <a:noFill/>
          <a:ln w="12700">
            <a:solidFill>
              <a:srgbClr val="1B5A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0" y="50292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this project is scored on F1-score and AUC-PR — not accuracy.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Telco Customer Churn dataset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7,021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414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customer rows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691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24414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691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577840" y="24414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1691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26.4%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24414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10881360" cy="0"/>
          </a:xfrm>
          <a:prstGeom prst="line">
            <a:avLst/>
          </a:prstGeom>
          <a:noFill/>
          <a:ln w="12700">
            <a:solidFill>
              <a:srgbClr val="E6EF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136392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43000" y="3063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383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· SeniorCitizen · Partner · Dependents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005072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43000" y="39319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&amp; services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251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· PhoneService · InternetService · 6 add-on services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873752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43000" y="4800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&amp; billing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5120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· PaymentMethod · MonthlyCharges · TotalCharges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92240" y="3017520"/>
            <a:ext cx="5029200" cy="3337560"/>
          </a:xfrm>
          <a:prstGeom prst="rect">
            <a:avLst/>
          </a:prstGeom>
          <a:solidFill>
            <a:srgbClr val="F4FAF9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6656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on top of the raw data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37033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tenure_group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40050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0-12 / 13-24 / 25-48 / 49-60 / 61-72 months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45445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num_addon_services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4846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active add-ons (0-6)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538581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avg_monthly_spend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56875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 ÷ tenure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CSV to a self-updating API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14600" cy="2651760"/>
          </a:xfrm>
          <a:prstGeom prst="rect">
            <a:avLst/>
          </a:prstGeom>
          <a:solidFill>
            <a:srgbClr val="0B3B3E"/>
          </a:solidFill>
          <a:ln w="12700">
            <a:solidFill>
              <a:srgbClr val="1B5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2468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15468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88620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F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· engineer features · stratified split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163824" y="333756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10712" y="2286000"/>
            <a:ext cx="2514600" cy="2651760"/>
          </a:xfrm>
          <a:prstGeom prst="rect">
            <a:avLst/>
          </a:prstGeom>
          <a:solidFill>
            <a:srgbClr val="0B3B3E"/>
          </a:solidFill>
          <a:ln w="12700">
            <a:solidFill>
              <a:srgbClr val="1B5A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2468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15468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88620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F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· compare models · tune hyperparameters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934456" y="333756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181344" y="2286000"/>
            <a:ext cx="2514600" cy="2651760"/>
          </a:xfrm>
          <a:prstGeom prst="rect">
            <a:avLst/>
          </a:prstGeom>
          <a:solidFill>
            <a:srgbClr val="0B3B3E"/>
          </a:solidFill>
          <a:ln w="12700">
            <a:solidFill>
              <a:srgbClr val="1B5A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82512" y="2468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382512" y="315468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82512" y="388620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F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· batch · SHAP · monitoring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705088" y="333756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951976" y="2286000"/>
            <a:ext cx="2514600" cy="2651760"/>
          </a:xfrm>
          <a:prstGeom prst="rect">
            <a:avLst/>
          </a:prstGeom>
          <a:solidFill>
            <a:srgbClr val="0B3B3E"/>
          </a:solidFill>
          <a:ln w="12700">
            <a:solidFill>
              <a:srgbClr val="1B5A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53144" y="2468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153144" y="315468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153144" y="388620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F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 · /retrain with hot-swap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257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8F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a self-contained, runnable module with its own requirements.txt — the data pipeline, training, dashboard, and API can each be run, tested, and deployed independently.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 · DATA PIPELINE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real-world messy data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FOUND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86384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APPLIED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2167128"/>
            <a:ext cx="10881360" cy="0"/>
          </a:xfrm>
          <a:prstGeom prst="line">
            <a:avLst/>
          </a:prstGeom>
          <a:noFill/>
          <a:ln w="12700">
            <a:solidFill>
              <a:srgbClr val="E6EF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3591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TotalCharges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3591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text; blank for 11 brand-new customers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23591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to numeric, filled with 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843784"/>
            <a:ext cx="10881360" cy="566928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926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customerID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926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identifier, no predictive value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2926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from the feature set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4930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34930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label (“Yes” / “No”)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34930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to 0 / 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977640"/>
            <a:ext cx="10881360" cy="566928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05993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Duplicates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405993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exact duplicate rows found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405993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773168"/>
            <a:ext cx="10881360" cy="960120"/>
          </a:xfrm>
          <a:prstGeom prst="rect">
            <a:avLst/>
          </a:prstGeom>
          <a:solidFill>
            <a:srgbClr val="042A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4910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 / 20 train-test split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2578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splits keep the same ~26.4% churn rate — so evaluation is never accidentally skewed.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 · MODEL TRAINING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3 models with SMOTE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4FAF9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(encode + scale)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971800" y="17830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29000" y="178308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00A896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7830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 only)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17830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4FAF9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7830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(LR / RF / XGB)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6700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oversamples only the training fold — never touches the test set.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 on the untouched test set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48640" y="3566160"/>
          <a:ext cx="74980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8321040" y="3566160"/>
            <a:ext cx="3200400" cy="2834640"/>
          </a:xfrm>
          <a:prstGeom prst="rect">
            <a:avLst/>
          </a:prstGeom>
          <a:solidFill>
            <a:srgbClr val="042A2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4964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WINNER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549640" y="404164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549640" y="50292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simpler linear model beat the tree ensembles at baseline settings — common in churn problems where key drivers (contract type, tenure) behave close to linearly.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 · HYPERPARAMETER TUNING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RandomizedSearchCV pushes XGBoost ahead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· optimized for F1-score · tuned on Logistic Regression + XGBoost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291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TUNING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505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71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0.617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502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2971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0.647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3502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AUC-PR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51960" y="1965960"/>
            <a:ext cx="3291840" cy="21031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80560" y="2148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TUNING — WINNER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4505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(tuned)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971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0.631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3502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989320" y="2971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0.653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3502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AUC-PR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26060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19659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performance on the real 7,043-row Telco test set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2606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26791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churners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092440" y="3200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9189720" y="32735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092440" y="3794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189720" y="38679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434840"/>
            <a:ext cx="10881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" y="46634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= 70% means the model catches 7 out of every 10 customers who will actually churn — a strong result for proactive retention outreach. Precision = 57% is a normal, expected trade-off on an imbalanced dataset like this one.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a number — a reason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explains every prediction in plain terms: which factors pushed this specific customer's risk up or down, and by how much.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real customer prediction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= Month-to-month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94960" y="2368296"/>
            <a:ext cx="1620244" cy="3108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5394960" y="2240280"/>
            <a:ext cx="0" cy="502920"/>
          </a:xfrm>
          <a:prstGeom prst="line">
            <a:avLst/>
          </a:prstGeom>
          <a:noFill/>
          <a:ln w="12700">
            <a:solidFill>
              <a:srgbClr val="D8E6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06644" y="23408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+0.492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5292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PaymentMethod = Electronic check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94960" y="2935224"/>
            <a:ext cx="778520" cy="3108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5394960" y="2807208"/>
            <a:ext cx="0" cy="502920"/>
          </a:xfrm>
          <a:prstGeom prst="line">
            <a:avLst/>
          </a:prstGeom>
          <a:noFill/>
          <a:ln w="12700">
            <a:solidFill>
              <a:srgbClr val="D8E6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4920" y="29077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+0.236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4198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OnlineSecurity = No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94960" y="3502152"/>
            <a:ext cx="605699" cy="3108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Shape 14"/>
          <p:cNvSpPr/>
          <p:nvPr/>
        </p:nvSpPr>
        <p:spPr>
          <a:xfrm>
            <a:off x="5394960" y="3374136"/>
            <a:ext cx="0" cy="502920"/>
          </a:xfrm>
          <a:prstGeom prst="line">
            <a:avLst/>
          </a:prstGeom>
          <a:noFill/>
          <a:ln w="12700">
            <a:solidFill>
              <a:srgbClr val="D8E6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92099" y="3474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+0.184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98678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InternetService = Fiber optic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57228" y="4069080"/>
            <a:ext cx="1237732" cy="31089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Shape 18"/>
          <p:cNvSpPr/>
          <p:nvPr/>
        </p:nvSpPr>
        <p:spPr>
          <a:xfrm>
            <a:off x="5394960" y="3941064"/>
            <a:ext cx="0" cy="502920"/>
          </a:xfrm>
          <a:prstGeom prst="line">
            <a:avLst/>
          </a:prstGeom>
          <a:noFill/>
          <a:ln w="12700">
            <a:solidFill>
              <a:srgbClr val="D8E6E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97108" y="40416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-0.376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55371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= 30 months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39596" y="4636008"/>
            <a:ext cx="1055364" cy="31089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4" name="Shape 22"/>
          <p:cNvSpPr/>
          <p:nvPr/>
        </p:nvSpPr>
        <p:spPr>
          <a:xfrm>
            <a:off x="5394960" y="4507992"/>
            <a:ext cx="0" cy="502920"/>
          </a:xfrm>
          <a:prstGeom prst="line">
            <a:avLst/>
          </a:prstGeom>
          <a:noFill/>
          <a:ln w="12700">
            <a:solidFill>
              <a:srgbClr val="D8E6E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79476" y="460857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-0.321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194560" y="5166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decreases churn risk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5166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churn risk →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5577840"/>
            <a:ext cx="10881360" cy="914400"/>
          </a:xfrm>
          <a:prstGeom prst="rect">
            <a:avLst/>
          </a:prstGeom>
          <a:solidFill>
            <a:srgbClr val="F4FAF9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4400" y="577900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explainer auto-detects which model won training (tree-based or linear) and picks the matching SHAP algorithm — no dashboard code changes needed either way.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 · INTERACTIVE 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tabs, one Streamlit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048256" cy="4297680"/>
          </a:xfrm>
          <a:prstGeom prst="rect">
            <a:avLst/>
          </a:prstGeom>
          <a:solidFill>
            <a:srgbClr val="0B3B3E"/>
          </a:solidFill>
          <a:ln w="12700">
            <a:solidFill>
              <a:srgbClr val="1B5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Analysis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49040"/>
            <a:ext cx="168249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F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Single-customer risk + SHAP factors + a suggested retention email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07208" y="1920240"/>
            <a:ext cx="2048256" cy="4297680"/>
          </a:xfrm>
          <a:prstGeom prst="rect">
            <a:avLst/>
          </a:prstGeom>
          <a:solidFill>
            <a:srgbClr val="0B3B3E"/>
          </a:solidFill>
          <a:ln w="12700">
            <a:solidFill>
              <a:srgbClr val="1B5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35808" y="21945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35808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990088" y="2971800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Prediction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990088" y="3749040"/>
            <a:ext cx="168249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F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 whole CSV of customers at once, download the results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74336" y="1920240"/>
            <a:ext cx="2048256" cy="4297680"/>
          </a:xfrm>
          <a:prstGeom prst="rect">
            <a:avLst/>
          </a:prstGeom>
          <a:solidFill>
            <a:srgbClr val="0B3B3E"/>
          </a:solidFill>
          <a:ln w="12700">
            <a:solidFill>
              <a:srgbClr val="1B5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02936" y="21945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02936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157216" y="2971800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 Threshold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157216" y="3749040"/>
            <a:ext cx="168249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F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cutoff that minimizes real business cost, not just F1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41464" y="1920240"/>
            <a:ext cx="2048256" cy="4297680"/>
          </a:xfrm>
          <a:prstGeom prst="rect">
            <a:avLst/>
          </a:prstGeom>
          <a:solidFill>
            <a:srgbClr val="0B3B3E"/>
          </a:solidFill>
          <a:ln w="12700">
            <a:solidFill>
              <a:srgbClr val="1B5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70064" y="21945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70064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324344" y="2971800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Monitoring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324344" y="3749040"/>
            <a:ext cx="168249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F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drift detection vs. the training data, logged over time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308592" y="1920240"/>
            <a:ext cx="2048256" cy="4297680"/>
          </a:xfrm>
          <a:prstGeom prst="rect">
            <a:avLst/>
          </a:prstGeom>
          <a:solidFill>
            <a:srgbClr val="0B3B3E"/>
          </a:solidFill>
          <a:ln w="12700">
            <a:solidFill>
              <a:srgbClr val="1B5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37192" y="21945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537192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491472" y="2971800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491472" y="3749040"/>
            <a:ext cx="168249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F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/ AUC-PR, confusion matrix, global SHAP feature importance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 · PRODUCTION API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standalone FastAPI service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isn't locked inside the dashboard — any system (CRM, script, mobile app) can call it directly.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5740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2082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20208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API and model are up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6400800" cy="54864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60604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606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56946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/schema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5694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for building input forms dynamically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77240" y="315468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1546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11810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31181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customer → probability + risk level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40080" y="3611880"/>
            <a:ext cx="6400800" cy="548640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70332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37033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366674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/predict/batch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611880" y="36667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in → CSV out, with predictions added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777240" y="425196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42519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600200" y="421538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/retrain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611880" y="42153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new labeled data → retrain &amp; hot-swap if better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7360920" y="1965960"/>
            <a:ext cx="4160520" cy="4526280"/>
          </a:xfrm>
          <a:prstGeom prst="rect">
            <a:avLst/>
          </a:prstGeom>
          <a:solidFill>
            <a:srgbClr val="042A2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589520" y="2148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/retrain — THE HEADLINE FEATURE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89520" y="2450592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589520" y="2450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010144" y="2404872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fresh, labeled CSV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89520" y="3072384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589520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010144" y="3026664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2 new candidates (LR + XGB)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589520" y="3694176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589520" y="3694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010144" y="3648456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them AND the live model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same held-out split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589520" y="431596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589520" y="4315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010144" y="4270248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Better? Back up old model,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+ hot-swap the new one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589520" y="4937760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589520" y="4937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010144" y="4892040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Worse? Keep current model,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comparison report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7589520" y="560527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restart required — the new model serves the very next request.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BASELINE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predictions into business decisions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718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Cost-Sensitive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931920"/>
            <a:ext cx="2880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0.5 cutoff treats a missed churner and a wasted offer as equally costly. Enter real $ costs — the app finds the threshold that minimizes total business cost.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429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2860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9718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Alerts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931920"/>
            <a:ext cx="2880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high-risk customer gets a ready-to-send retention email, with an offer chosen by explainable rules — contract type, tenure, spend, current add-ons.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429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2860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9718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Monitoring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Drift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931920"/>
            <a:ext cx="2880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batch is compared to the training data using PSI. Significant drift is flagged — before accuracy silently degrades in production.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2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B3B3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ML LIFECYCLE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18872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a model —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living system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8036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9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→ cleaning → feature engineering → model comparison → imbalance handling → tuning → explainability → dashboard → API → cost-aware decisions → automated action → drift monitoring → automatic retraining.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572000"/>
            <a:ext cx="20116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709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cost-of-mistake alerts · public deployment · segmentation-linked retention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321040" y="1371600"/>
            <a:ext cx="3017520" cy="1005840"/>
          </a:xfrm>
          <a:prstGeom prst="rect">
            <a:avLst/>
          </a:prstGeom>
          <a:solidFill>
            <a:srgbClr val="0B3B3E"/>
          </a:solidFill>
          <a:ln w="12700">
            <a:solidFill>
              <a:srgbClr val="1B5A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49640" y="14813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0.631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549640" y="1993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(tuned)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321040" y="2560320"/>
            <a:ext cx="3017520" cy="1005840"/>
          </a:xfrm>
          <a:prstGeom prst="rect">
            <a:avLst/>
          </a:prstGeom>
          <a:solidFill>
            <a:srgbClr val="0B3B3E"/>
          </a:solidFill>
          <a:ln w="12700">
            <a:solidFill>
              <a:srgbClr val="1B5A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49640" y="26700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549640" y="31821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churners caught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21040" y="3749040"/>
            <a:ext cx="3017520" cy="1005840"/>
          </a:xfrm>
          <a:prstGeom prst="rect">
            <a:avLst/>
          </a:prstGeom>
          <a:solidFill>
            <a:srgbClr val="0B3B3E"/>
          </a:solidFill>
          <a:ln w="12700">
            <a:solidFill>
              <a:srgbClr val="1B5A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49640" y="38587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549640" y="43708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tabs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321040" y="4937760"/>
            <a:ext cx="3017520" cy="1005840"/>
          </a:xfrm>
          <a:prstGeom prst="rect">
            <a:avLst/>
          </a:prstGeom>
          <a:solidFill>
            <a:srgbClr val="0B3B3E"/>
          </a:solidFill>
          <a:ln w="12700">
            <a:solidFill>
              <a:srgbClr val="1B5A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49640" y="50474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55595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2026-09-08T11:14:33Z</dcterms:created>
  <dcterms:modified xsi:type="dcterms:W3CDTF">2026-09-08T11:14:33Z</dcterms:modified>
</cp:coreProperties>
</file>